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Mid-point cost ($k)</c:v>
                </c:pt>
              </c:strCache>
            </c:strRef>
          </c:tx>
          <c:spPr>
            <a:solidFill>
              <a:srgbClr val="8C7EF7"/>
            </a:solidFill>
            <a:effectLst/>
          </c:spPr>
          <c:invertIfNegative val="0"/>
          <c:dLbls>
            <c:numFmt formatCode="&quot;$&quot;0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8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P0 Scope</c:v>
                  </c:pt>
                  <c:pt idx="1">
                    <c:v>P1 Design</c:v>
                  </c:pt>
                  <c:pt idx="2">
                    <c:v>P2 Discovery</c:v>
                  </c:pt>
                  <c:pt idx="3">
                    <c:v>P3 Build v1</c:v>
                  </c:pt>
                  <c:pt idx="4">
                    <c:v>P4 Second client</c:v>
                  </c:pt>
                  <c:pt idx="5">
                    <c:v>P5 IP audit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20</c:v>
                </c:pt>
                <c:pt idx="2">
                  <c:v>7.5</c:v>
                </c:pt>
                <c:pt idx="3">
                  <c:v>70</c:v>
                </c:pt>
                <c:pt idx="4">
                  <c:v>65</c:v>
                </c:pt>
                <c:pt idx="5">
                  <c:v>20</c:v>
                </c:pt>
              </c:numCache>
            </c:numRef>
          </c:val>
        </c:ser>
        <c:dLbls>
          <c:numFmt formatCode="&quot;$&quot;0&quot;k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18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548640"/>
            <a:ext cx="1280160" cy="1280160"/>
          </a:xfrm>
          <a:prstGeom prst="ellipse">
            <a:avLst/>
          </a:prstGeom>
          <a:solidFill>
            <a:srgbClr val="8C7EF7">
              <a:alpha val="30000"/>
            </a:srgbClr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212080"/>
            <a:ext cx="731520" cy="731520"/>
          </a:xfrm>
          <a:prstGeom prst="ellipse">
            <a:avLst/>
          </a:prstGeom>
          <a:solidFill>
            <a:srgbClr val="5BD6E0">
              <a:alpha val="25000"/>
            </a:srgbClr>
          </a:solidFill>
          <a:ln w="12700">
            <a:solidFill>
              <a:srgbClr val="5BD6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4754880"/>
            <a:ext cx="411480" cy="411480"/>
          </a:xfrm>
          <a:prstGeom prst="ellipse">
            <a:avLst/>
          </a:prstGeom>
          <a:solidFill>
            <a:srgbClr val="F58CBE">
              <a:alpha val="25000"/>
            </a:srgbClr>
          </a:solidFill>
          <a:ln w="12700">
            <a:solidFill>
              <a:srgbClr val="F58C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 · 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Production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we’ve already built, and the investment needed to ship Hitbox to launch.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Executive Leadership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05695" y="5943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platform — not a sketch.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roughly $100k+ of professional development work has already been completed in-house. A pro shop would refactor this — not throw it out.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0868" y="2834640"/>
            <a:ext cx="2606040" cy="182880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0868" y="2834640"/>
            <a:ext cx="73152" cy="1828800"/>
          </a:xfrm>
          <a:prstGeom prst="rect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9468" y="30632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69468" y="3977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already built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75508" y="2834640"/>
            <a:ext cx="2606040" cy="182880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75508" y="2834640"/>
            <a:ext cx="73152" cy="1828800"/>
          </a:xfrm>
          <a:prstGeom prst="rect">
            <a:avLst/>
          </a:prstGeom>
          <a:solidFill>
            <a:srgbClr val="5BD6E0"/>
          </a:solidFill>
          <a:ln w="12700">
            <a:solidFill>
              <a:srgbClr val="5BD6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4108" y="30632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3604108" y="3977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classes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0148" y="2834640"/>
            <a:ext cx="2606040" cy="182880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0148" y="2834640"/>
            <a:ext cx="73152" cy="1828800"/>
          </a:xfrm>
          <a:prstGeom prst="rect">
            <a:avLst/>
          </a:prstGeom>
          <a:solidFill>
            <a:srgbClr val="F58CBE"/>
          </a:solidFill>
          <a:ln w="12700">
            <a:solidFill>
              <a:srgbClr val="F58C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8748" y="30632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6438748" y="3977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data models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44788" y="2834640"/>
            <a:ext cx="2606040" cy="182880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44788" y="2834640"/>
            <a:ext cx="73152" cy="1828800"/>
          </a:xfrm>
          <a:prstGeom prst="rect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73388" y="30632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$100k+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9273388" y="3977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dev value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integrated and working: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  ·  Next.js web app  ·  Firebase Auth + Firestore + Storage + Cloud Functions  ·  Stripe payments  ·  NFC scan + cryptographic verification  ·  Evolution engine viewer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· From Prototype to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TO PRODUCTION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still required to ship.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stack, same product. What an external partner brings is execution discipline at production scale.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576218" cy="164592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880360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880360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3073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the dependency graph so feature #50 doesn’t break feature #3.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07738" y="2606040"/>
            <a:ext cx="3576218" cy="164592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82058" y="2880360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2058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22138" y="2880360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CI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82058" y="3474720"/>
            <a:ext cx="3073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widget, and integration tests run automatically on every commit.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66837" y="2606040"/>
            <a:ext cx="3576218" cy="164592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41157" y="2880360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1157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81237" y="2880360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crypto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41157" y="3474720"/>
            <a:ext cx="3073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1 NFC auth path. Amateur mistakes cause chip cloning and replay attacks.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3576218" cy="164592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709160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4709160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5303520"/>
            <a:ext cx="3073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Errors, retries, offline mode, observability (Sentry / Crashlytics), abuse limits.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07738" y="4434840"/>
            <a:ext cx="3576218" cy="164592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82058" y="4709160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82058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22138" y="4709160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82058" y="5303520"/>
            <a:ext cx="3073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virtualization, image caching, cold-start time, bundle size.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66837" y="4434840"/>
            <a:ext cx="3576218" cy="164592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41157" y="4709160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41157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981237" y="4709160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polish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41157" y="5303520"/>
            <a:ext cx="3073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state designed in Figma before any code. Highest-ROI single spend.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· From Prototype to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FORWARD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phases. Funded in stages, not one fat contract.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94415" cy="566928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91440" cy="566928"/>
          </a:xfrm>
          <a:prstGeom prst="rect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72284"/>
            <a:ext cx="411480" cy="41148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722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finalization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21945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features. Pick first platform.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0" y="21945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424160" y="21945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825496"/>
            <a:ext cx="11094415" cy="566928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825496"/>
            <a:ext cx="91440" cy="566928"/>
          </a:xfrm>
          <a:prstGeom prst="rect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2903220"/>
            <a:ext cx="411480" cy="41148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9032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&amp; UX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282549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+ every screen state.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0" y="282549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424160" y="282549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$15–25k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456432"/>
            <a:ext cx="11094415" cy="566928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456432"/>
            <a:ext cx="91440" cy="566928"/>
          </a:xfrm>
          <a:prstGeom prst="rect">
            <a:avLst/>
          </a:prstGeom>
          <a:solidFill>
            <a:srgbClr val="5BD6E0"/>
          </a:solidFill>
          <a:ln w="12700">
            <a:solidFill>
              <a:srgbClr val="5BD6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3534156"/>
            <a:ext cx="411480" cy="411480"/>
          </a:xfrm>
          <a:prstGeom prst="ellipse">
            <a:avLst/>
          </a:prstGeom>
          <a:solidFill>
            <a:srgbClr val="5BD6E0"/>
          </a:solidFill>
          <a:ln w="12700">
            <a:solidFill>
              <a:srgbClr val="5BD6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5341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" y="34564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fixed bid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29200" y="345643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contractor audit + scope quote.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44000" y="345643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424160" y="34564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$5–10k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087368"/>
            <a:ext cx="11094415" cy="566928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087368"/>
            <a:ext cx="91440" cy="566928"/>
          </a:xfrm>
          <a:prstGeom prst="rect">
            <a:avLst/>
          </a:prstGeom>
          <a:solidFill>
            <a:srgbClr val="5BD6E0"/>
          </a:solidFill>
          <a:ln w="12700">
            <a:solidFill>
              <a:srgbClr val="5BD6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4165092"/>
            <a:ext cx="411480" cy="411480"/>
          </a:xfrm>
          <a:prstGeom prst="ellipse">
            <a:avLst/>
          </a:prstGeom>
          <a:solidFill>
            <a:srgbClr val="5BD6E0"/>
          </a:solidFill>
          <a:ln w="12700">
            <a:solidFill>
              <a:srgbClr val="5BD6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1650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71600" y="40873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v1 of one client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029200" y="408736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+ harden, ship to App Store or Vercel.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144000" y="40873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10–16 wk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424160" y="40873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$60–80k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4718304"/>
            <a:ext cx="11094415" cy="566928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4718304"/>
            <a:ext cx="91440" cy="566928"/>
          </a:xfrm>
          <a:prstGeom prst="rect">
            <a:avLst/>
          </a:prstGeom>
          <a:solidFill>
            <a:srgbClr val="F58CBE"/>
          </a:solidFill>
          <a:ln w="12700">
            <a:solidFill>
              <a:srgbClr val="F58CB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" y="4796028"/>
            <a:ext cx="411480" cy="411480"/>
          </a:xfrm>
          <a:prstGeom prst="ellipse">
            <a:avLst/>
          </a:prstGeom>
          <a:solidFill>
            <a:srgbClr val="F58CBE"/>
          </a:solidFill>
          <a:ln w="12700">
            <a:solidFill>
              <a:srgbClr val="F58CB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47960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371600" y="471830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second client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029200" y="471830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platform on the now-hardened backend.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144000" y="471830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wk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424160" y="471830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$50–80k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5349240"/>
            <a:ext cx="11094415" cy="566928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5349240"/>
            <a:ext cx="91440" cy="566928"/>
          </a:xfrm>
          <a:prstGeom prst="rect">
            <a:avLst/>
          </a:prstGeom>
          <a:solidFill>
            <a:srgbClr val="F58CBE"/>
          </a:solidFill>
          <a:ln w="12700">
            <a:solidFill>
              <a:srgbClr val="F58CB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7240" y="5426964"/>
            <a:ext cx="411480" cy="411480"/>
          </a:xfrm>
          <a:prstGeom prst="ellipse">
            <a:avLst/>
          </a:prstGeom>
          <a:solidFill>
            <a:srgbClr val="F58CBE"/>
          </a:solidFill>
          <a:ln w="12700">
            <a:solidFill>
              <a:srgbClr val="F58CB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54269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371600" y="53492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IP-critical hardening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5029200" y="53492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+ evolution security review.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9144000" y="53492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wk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0424160" y="53492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$15–25k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48640" y="5897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 launch (mid-point ~$180k)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0058400" y="5897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$145–220k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· From Prototype to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777240" cy="77724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188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finalization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weeks of internal work to lock the launch feature set before any vendor is engaged.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current feature list against the implementation guide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every feature into Launch (8–12 items only), V1.1, or Later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first launch platform — mobile (NFC differentiator) or web (broader reach)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buyer cohort for the soft launch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resulting scope document with leadership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0" y="2606040"/>
            <a:ext cx="4327855" cy="3749040"/>
          </a:xfrm>
          <a:prstGeom prst="rect">
            <a:avLst/>
          </a:prstGeom>
          <a:solidFill>
            <a:srgbClr val="1B1840"/>
          </a:solidFill>
          <a:ln w="12700">
            <a:solidFill>
              <a:srgbClr val="1B1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283464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35240" y="3108960"/>
            <a:ext cx="3687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635240" y="3886200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work — no external spend.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35240" y="4389120"/>
            <a:ext cx="3687775" cy="0"/>
          </a:xfrm>
          <a:prstGeom prst="line">
            <a:avLst/>
          </a:prstGeom>
          <a:noFill/>
          <a:ln w="6350">
            <a:solidFill>
              <a:srgbClr val="AAB0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4526280"/>
            <a:ext cx="368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635240" y="4727448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35240" y="5120640"/>
            <a:ext cx="368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635240" y="5321808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+ leadership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35240" y="5715000"/>
            <a:ext cx="368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635240" y="5916168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scope: Launch / V1.1 / Later feature buckets, plus a chosen first platform.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6400800" cy="86868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532120"/>
            <a:ext cx="73152" cy="868680"/>
          </a:xfrm>
          <a:prstGeom prst="rect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5778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58521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cut at this phase saves roughly $5–15k downstream. Skipping this is the most expensive mistake possible.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· From Prototype to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777240" cy="77724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188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&amp; UX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senior product designer produces every screen state and a documented brand-aligned design system.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every Launch-bucket screen in every state (loading, empty, error, success)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brand-aligned design system (Kinetic Etherealism: indigo, lavender, cyan, rose)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motion, micro-interactions, and component states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Figma component library for engineering reuse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two design review cycles with leadership before sign-off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0" y="2606040"/>
            <a:ext cx="4327855" cy="3749040"/>
          </a:xfrm>
          <a:prstGeom prst="rect">
            <a:avLst/>
          </a:prstGeom>
          <a:solidFill>
            <a:srgbClr val="1B1840"/>
          </a:solidFill>
          <a:ln w="12700">
            <a:solidFill>
              <a:srgbClr val="1B1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283464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35240" y="3108960"/>
            <a:ext cx="3687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$15–25k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635240" y="3886200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Mid-point ~$20k.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35240" y="4389120"/>
            <a:ext cx="3687775" cy="0"/>
          </a:xfrm>
          <a:prstGeom prst="line">
            <a:avLst/>
          </a:prstGeom>
          <a:noFill/>
          <a:ln w="6350">
            <a:solidFill>
              <a:srgbClr val="AAB0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4526280"/>
            <a:ext cx="368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635240" y="4727448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weeks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35240" y="5120640"/>
            <a:ext cx="368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635240" y="5321808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product designer (Figma)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35240" y="5715000"/>
            <a:ext cx="368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635240" y="5916168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Figma file + design system tokens, ready for engineering hand-off.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6400800" cy="86868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532120"/>
            <a:ext cx="73152" cy="868680"/>
          </a:xfrm>
          <a:prstGeom prst="rect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5778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58521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single ROI in the entire plan. Without it, developers make UX decisions at $150/hr — usually badly, always expensively.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· From Prototype to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B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777240" cy="777240"/>
          </a:xfrm>
          <a:prstGeom prst="ellipse">
            <a:avLst/>
          </a:prstGeom>
          <a:solidFill>
            <a:srgbClr val="5BD6E0"/>
          </a:solidFill>
          <a:ln w="12700">
            <a:solidFill>
              <a:srgbClr val="5BD6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188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fixed bid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senior contractor audits the existing codebase and produces a written, fixed-bid scope.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B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audit the existing Flutter, Next.js, and Cloud Functions code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gaps to production: testing, security, performance, observability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milestone-based scope document with clear acceptance criteria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 fixed-bid quote — not time-and-materials — for Phases 3 and 4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the development team structure and seniority mix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0" y="2606040"/>
            <a:ext cx="4327855" cy="3749040"/>
          </a:xfrm>
          <a:prstGeom prst="rect">
            <a:avLst/>
          </a:prstGeom>
          <a:solidFill>
            <a:srgbClr val="1B1840"/>
          </a:solidFill>
          <a:ln w="12700">
            <a:solidFill>
              <a:srgbClr val="1B1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283464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B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35240" y="3108960"/>
            <a:ext cx="3687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$5–10k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635240" y="3886200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Mid-point ~$7.5k.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35240" y="4389120"/>
            <a:ext cx="3687775" cy="0"/>
          </a:xfrm>
          <a:prstGeom prst="line">
            <a:avLst/>
          </a:prstGeom>
          <a:noFill/>
          <a:ln w="6350">
            <a:solidFill>
              <a:srgbClr val="AAB0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4526280"/>
            <a:ext cx="368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5B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635240" y="4727448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35240" y="5120640"/>
            <a:ext cx="368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5B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635240" y="5321808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senior contractor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35240" y="5715000"/>
            <a:ext cx="368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5B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635240" y="5916168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audit + production gap analysis + fixed-bid quote with milestone plan.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6400800" cy="86868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532120"/>
            <a:ext cx="73152" cy="868680"/>
          </a:xfrm>
          <a:prstGeom prst="rect">
            <a:avLst/>
          </a:prstGeom>
          <a:solidFill>
            <a:srgbClr val="5BD6E0"/>
          </a:solidFill>
          <a:ln w="12700">
            <a:solidFill>
              <a:srgbClr val="5BD6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5778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5B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58521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step is what protects the budget. Skipping it is how a $100k contract becomes $280k in invoices.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· From Prototype to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B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777240" cy="777240"/>
          </a:xfrm>
          <a:prstGeom prst="ellipse">
            <a:avLst/>
          </a:prstGeom>
          <a:solidFill>
            <a:srgbClr val="5BD6E0"/>
          </a:solidFill>
          <a:ln w="12700">
            <a:solidFill>
              <a:srgbClr val="5BD6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188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v1 of one client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and harden the chosen client (mobile or web) to production quality. Ship to store.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B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service layer and reshape Firestore schema for scale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unit, widget, and integration tests with continuous integration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observability: Sentry / Crashlytics, structured logging, alerting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error handling, offline mode, retries, and abuse rate-limits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designs from Phase 1 in full fidelity across every screen state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to TestFlight + Play Store internal track, then phased public rollout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0" y="2606040"/>
            <a:ext cx="4327855" cy="3749040"/>
          </a:xfrm>
          <a:prstGeom prst="rect">
            <a:avLst/>
          </a:prstGeom>
          <a:solidFill>
            <a:srgbClr val="1B1840"/>
          </a:solidFill>
          <a:ln w="12700">
            <a:solidFill>
              <a:srgbClr val="1B1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283464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B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35240" y="3108960"/>
            <a:ext cx="3687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$60–80k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635240" y="3886200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Mid-point ~$70k. Largest single line item.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35240" y="4389120"/>
            <a:ext cx="3687775" cy="0"/>
          </a:xfrm>
          <a:prstGeom prst="line">
            <a:avLst/>
          </a:prstGeom>
          <a:noFill/>
          <a:ln w="6350">
            <a:solidFill>
              <a:srgbClr val="AAB0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4526280"/>
            <a:ext cx="368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5B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635240" y="4727448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10–16 weeks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35240" y="5120640"/>
            <a:ext cx="368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5B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635240" y="5321808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build team (2–3 engineers + PM)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35240" y="5715000"/>
            <a:ext cx="368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5B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635240" y="5916168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app live on the App Store + Google Play, or on Vercel for web.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6400800" cy="86868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532120"/>
            <a:ext cx="73152" cy="868680"/>
          </a:xfrm>
          <a:prstGeom prst="rect">
            <a:avLst/>
          </a:prstGeom>
          <a:solidFill>
            <a:srgbClr val="5BD6E0"/>
          </a:solidFill>
          <a:ln w="12700">
            <a:solidFill>
              <a:srgbClr val="5BD6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5778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5B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58521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when the prototype becomes a shippable product. Tests, observability, and crash reporting eliminate the production risk we cannot carry today.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· From Prototype to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8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777240" cy="777240"/>
          </a:xfrm>
          <a:prstGeom prst="ellipse">
            <a:avLst/>
          </a:prstGeom>
          <a:solidFill>
            <a:srgbClr val="F58CBE"/>
          </a:solidFill>
          <a:ln w="12700">
            <a:solidFill>
              <a:srgbClr val="F58C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188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second client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backend already production-hardened, the second client runs faster and cheaper.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8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design system tokens and components from Phase 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backend services, schemas, and Cloud Functions from Phase 3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second client to feature parity for Launch-bucket scope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integration tests: ownership, trades, evolution flows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launch checklist, App Store review prep (or DNS / SEO)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0" y="2606040"/>
            <a:ext cx="4327855" cy="3749040"/>
          </a:xfrm>
          <a:prstGeom prst="rect">
            <a:avLst/>
          </a:prstGeom>
          <a:solidFill>
            <a:srgbClr val="1B1840"/>
          </a:solidFill>
          <a:ln w="12700">
            <a:solidFill>
              <a:srgbClr val="1B1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283464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8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35240" y="3108960"/>
            <a:ext cx="3687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$50–80k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635240" y="3886200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Mid-point ~$65k. Cheaper than Phase 3 thanks to shared backend + design system.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35240" y="4389120"/>
            <a:ext cx="3687775" cy="0"/>
          </a:xfrm>
          <a:prstGeom prst="line">
            <a:avLst/>
          </a:prstGeom>
          <a:noFill/>
          <a:ln w="6350">
            <a:solidFill>
              <a:srgbClr val="AAB0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4526280"/>
            <a:ext cx="368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F58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635240" y="4727448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weeks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35240" y="5120640"/>
            <a:ext cx="368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F58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635240" y="5321808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build team or rotated team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35240" y="5715000"/>
            <a:ext cx="368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F58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635240" y="5916168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mobile and web clients live in production, on the same Firebase backend.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6400800" cy="86868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532120"/>
            <a:ext cx="73152" cy="868680"/>
          </a:xfrm>
          <a:prstGeom prst="rect">
            <a:avLst/>
          </a:prstGeom>
          <a:solidFill>
            <a:srgbClr val="F58CBE"/>
          </a:solidFill>
          <a:ln w="12700">
            <a:solidFill>
              <a:srgbClr val="F58C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5778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8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58521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both clients to capture the full audience: collectors who tap NFC chips and casual buyers who arrive via web search.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· From Prototype to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8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777240" cy="777240"/>
          </a:xfrm>
          <a:prstGeom prst="ellipse">
            <a:avLst/>
          </a:prstGeom>
          <a:solidFill>
            <a:srgbClr val="F58CBE"/>
          </a:solidFill>
          <a:ln w="12700">
            <a:solidFill>
              <a:srgbClr val="F58C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188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IP-critical hardening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security review of the Patent 1 NFC cryptographic path and Patent 2 evolution engine.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8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Threat-model the physical → NFC → app → backend flow end-to-end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cryptographic protocol implementation for weaknesses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resistance to chip cloning, replay attacks, and key extraction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Patent 2 evolution engine for tampering and race conditions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security posture for ongoing development hand-off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0" y="2606040"/>
            <a:ext cx="4327855" cy="3749040"/>
          </a:xfrm>
          <a:prstGeom prst="rect">
            <a:avLst/>
          </a:prstGeom>
          <a:solidFill>
            <a:srgbClr val="1B1840"/>
          </a:solidFill>
          <a:ln w="12700">
            <a:solidFill>
              <a:srgbClr val="1B1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283464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8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35240" y="3108960"/>
            <a:ext cx="3687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$15–25k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635240" y="3886200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Mid-point ~$20k. Cannot be skipped.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35240" y="4389120"/>
            <a:ext cx="3687775" cy="0"/>
          </a:xfrm>
          <a:prstGeom prst="line">
            <a:avLst/>
          </a:prstGeom>
          <a:noFill/>
          <a:ln w="6350">
            <a:solidFill>
              <a:srgbClr val="AAB0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4526280"/>
            <a:ext cx="368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F58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635240" y="4727448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weeks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35240" y="5120640"/>
            <a:ext cx="368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F58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635240" y="5321808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engineer or audit firm (e.g. Trail of Bits, Doyensec)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35240" y="5715000"/>
            <a:ext cx="368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F58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635240" y="5916168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security report + remediated code + signed off-going security posture.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6400800" cy="86868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532120"/>
            <a:ext cx="73152" cy="868680"/>
          </a:xfrm>
          <a:prstGeom prst="rect">
            <a:avLst/>
          </a:prstGeom>
          <a:solidFill>
            <a:srgbClr val="F58CBE"/>
          </a:solidFill>
          <a:ln w="12700">
            <a:solidFill>
              <a:srgbClr val="F58C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5778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8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58521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cloning, replay attacks, or key leakage destroy the authenticity story that is the entire reason Hitbox is patented.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· From Prototype to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$145–220k to ship.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Mid-point recommendation: $180k, paid in stages tied to phase milestones.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46888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63840" y="2468880"/>
            <a:ext cx="3779215" cy="3840480"/>
          </a:xfrm>
          <a:prstGeom prst="rect">
            <a:avLst/>
          </a:prstGeom>
          <a:solidFill>
            <a:srgbClr val="1B1840"/>
          </a:solidFill>
          <a:ln w="12700">
            <a:solidFill>
              <a:srgbClr val="1B18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38160" y="260604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 ·   MID   ·   HIGH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38160" y="2926080"/>
            <a:ext cx="3230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$145k  /  $180k  /  $220k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138160" y="3611880"/>
            <a:ext cx="2316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— Scope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271455" y="3611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38160" y="3904488"/>
            <a:ext cx="2316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Design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271455" y="3904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$15–25k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38160" y="4197096"/>
            <a:ext cx="2316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Discovery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271455" y="4197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$5–10k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38160" y="4489704"/>
            <a:ext cx="2316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Build v1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271455" y="44897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$60–80k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38160" y="4782312"/>
            <a:ext cx="2316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Second client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271455" y="47823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$50–80k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138160" y="5074920"/>
            <a:ext cx="2316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IP hardening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271455" y="5074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$15–25k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138160" y="5486400"/>
            <a:ext cx="3230575" cy="0"/>
          </a:xfrm>
          <a:prstGeom prst="line">
            <a:avLst/>
          </a:prstGeom>
          <a:noFill/>
          <a:ln w="6350">
            <a:solidFill>
              <a:srgbClr val="AAB0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38160" y="5577840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(post-launch)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138160" y="585216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$5–10k / month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· From Prototype to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822960"/>
            <a:ext cx="1097280" cy="1097280"/>
          </a:xfrm>
          <a:prstGeom prst="ellipse">
            <a:avLst/>
          </a:prstGeom>
          <a:solidFill>
            <a:srgbClr val="5BD6E0">
              <a:alpha val="25000"/>
            </a:srgbClr>
          </a:solidFill>
          <a:ln w="12700">
            <a:solidFill>
              <a:srgbClr val="5BD6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0" y="5394960"/>
            <a:ext cx="502920" cy="502920"/>
          </a:xfrm>
          <a:prstGeom prst="ellipse">
            <a:avLst/>
          </a:prstGeom>
          <a:solidFill>
            <a:srgbClr val="F58CBE">
              <a:alpha val="30000"/>
            </a:srgbClr>
          </a:solidFill>
          <a:ln w="12700">
            <a:solidFill>
              <a:srgbClr val="F58C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$180k staged investment to launch.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$100k+ of equivalent dev value already invested in-house. The path to launch is well-defined, phased, and protected from scope creep.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68980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68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320040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Phase 1 design budget ($15–25k) to begin in 2 weeks.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936492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9364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867912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Phase 0 scope-lock review with leadership this month.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604004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6040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4535424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contract the senior auditor for Phase 2 fixed bid.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5271516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2715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5202936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monthly steering review tied to phase milestones.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5939028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9390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5870448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soft launch within 9 months of Phase 3 kick-off.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· From Prototype to Production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Hitbox — From Prototype to Production</dc:title>
  <dc:subject>PptxGenJS Presentation</dc:subject>
  <dc:creator>Hitbox</dc:creator>
  <cp:lastModifiedBy>Hitbox</cp:lastModifiedBy>
  <cp:revision>1</cp:revision>
  <dcterms:created xsi:type="dcterms:W3CDTF">2026-05-02T07:50:26Z</dcterms:created>
  <dcterms:modified xsi:type="dcterms:W3CDTF">2026-05-02T07:50:26Z</dcterms:modified>
</cp:coreProperties>
</file>