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by phase ($k)</c:v>
                </c:pt>
              </c:strCache>
            </c:strRef>
          </c:tx>
          <c:spPr>
            <a:solidFill>
              <a:srgbClr val="8C7EF7"/>
            </a:solidFill>
            <a:effectLst/>
          </c:spPr>
          <c:invertIfNegative val="0"/>
          <c:dLbls>
            <c:numFmt formatCode="&quot;$&quot;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8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Discovery</c:v>
                  </c:pt>
                  <c:pt idx="1">
                    <c:v>Design</c:v>
                  </c:pt>
                  <c:pt idx="2">
                    <c:v>Backend</c:v>
                  </c:pt>
                  <c:pt idx="3">
                    <c:v>Mobile</c:v>
                  </c:pt>
                  <c:pt idx="4">
                    <c:v>Web</c:v>
                  </c:pt>
                  <c:pt idx="5">
                    <c:v>QA &amp; security</c:v>
                  </c:pt>
                  <c:pt idx="6">
                    <c:v>Launch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35</c:v>
                </c:pt>
                <c:pt idx="2">
                  <c:v>65</c:v>
                </c:pt>
                <c:pt idx="3">
                  <c:v>110</c:v>
                </c:pt>
                <c:pt idx="4">
                  <c:v>70</c:v>
                </c:pt>
                <c:pt idx="5">
                  <c:v>30</c:v>
                </c:pt>
                <c:pt idx="6">
                  <c:v>15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8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11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48640"/>
            <a:ext cx="1280160" cy="1280160"/>
          </a:xfrm>
          <a:prstGeom prst="ellipse">
            <a:avLst/>
          </a:prstGeom>
          <a:solidFill>
            <a:srgbClr val="8C7EF7">
              <a:alpha val="30000"/>
            </a:srgbClr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212080"/>
            <a:ext cx="731520" cy="731520"/>
          </a:xfrm>
          <a:prstGeom prst="ellipse">
            <a:avLst/>
          </a:prstGeom>
          <a:solidFill>
            <a:srgbClr val="5BD6E0">
              <a:alpha val="25000"/>
            </a:srgbClr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754880"/>
            <a:ext cx="411480" cy="411480"/>
          </a:xfrm>
          <a:prstGeom prst="ellipse">
            <a:avLst/>
          </a:prstGeom>
          <a:solidFill>
            <a:srgbClr val="F58CBE">
              <a:alpha val="25000"/>
            </a:srgbClr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 · 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Investment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development plan, timeline, and budget for the Hitbox music-collectibles platform.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Executive Leadership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05695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Authenticated, evolving music collectibles.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physical collectible carries a cryptographic NFC chip. Owners scan it with the Hitbox mobile app to verify authenticity, register ownership, and unlock evolving digital value as the item is traded.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0868" y="3291840"/>
            <a:ext cx="2606040" cy="23774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868" y="3291840"/>
            <a:ext cx="73152" cy="2377440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5188" y="361188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18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5188" y="4206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5188" y="46634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Tap-to-verify NFC chip with cryptographic ownership proof.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75508" y="3291840"/>
            <a:ext cx="2606040" cy="23774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5508" y="3291840"/>
            <a:ext cx="73152" cy="2377440"/>
          </a:xfrm>
          <a:prstGeom prst="rect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49828" y="3611880"/>
            <a:ext cx="457200" cy="457200"/>
          </a:xfrm>
          <a:prstGeom prst="ellipse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982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49828" y="4206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49828" y="46634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vault, portfolio value, and collection insights.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0148" y="3291840"/>
            <a:ext cx="2606040" cy="23774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0148" y="3291840"/>
            <a:ext cx="73152" cy="2377440"/>
          </a:xfrm>
          <a:prstGeom prst="rect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468" y="3611880"/>
            <a:ext cx="457200" cy="457200"/>
          </a:xfrm>
          <a:prstGeom prst="ellipse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446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84468" y="4206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84468" y="46634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trades and a public marketplace with live drops.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44788" y="3291840"/>
            <a:ext cx="2606040" cy="23774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44788" y="3291840"/>
            <a:ext cx="73152" cy="2377440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19108" y="361188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1910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19108" y="4206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19108" y="46634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gain XP, rank, and unlocks each time they change hands.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Platform · Build Investment Proposal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connected systems, one platform.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80848" y="2194560"/>
            <a:ext cx="3657600" cy="42062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848" y="2194560"/>
            <a:ext cx="3657600" cy="640080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5168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5168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(Flutter)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0888" y="30632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scan &amp; cryptographic verification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collection &amp; portfolio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Trades, social feed, notifications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Drops, wishlists, in-app purchase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67048" y="2194560"/>
            <a:ext cx="3657600" cy="42062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7048" y="2194560"/>
            <a:ext cx="3657600" cy="640080"/>
          </a:xfrm>
          <a:prstGeom prst="rect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1368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Marketplace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41368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storefront (Next.js)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87088" y="30632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collectibles, artists, and drops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listings and checkout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landing pages and SEO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Account, profile, and transaction history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3248" y="2194560"/>
            <a:ext cx="3657600" cy="42062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3248" y="2194560"/>
            <a:ext cx="3657600" cy="640080"/>
          </a:xfrm>
          <a:prstGeom prst="rect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7568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Platform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7568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 (Firebase + Functions)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73288" y="30632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ledger &amp; evolution engine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payments (Stripe), media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tools, moderation, analytics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shared by mobile and web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Platform · Build Investment Proposal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phases, milestone-based.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4415" cy="5486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91440" cy="548640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63140"/>
            <a:ext cx="411480" cy="41148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631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specification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technical architecture, fixed-bid scope.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42416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11094415" cy="5486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16352"/>
            <a:ext cx="91440" cy="548640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884932"/>
            <a:ext cx="411480" cy="41148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849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&amp; UX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8163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flows, every screen state, brand-aligned design system.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424160" y="28163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wk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438144"/>
            <a:ext cx="11094415" cy="5486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38144"/>
            <a:ext cx="91440" cy="548640"/>
          </a:xfrm>
          <a:prstGeom prst="rect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506724"/>
            <a:ext cx="411480" cy="411480"/>
          </a:xfrm>
          <a:prstGeom prst="ellipse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5067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4381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platform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34381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auth, ownership ledger, evolution engine, APIs.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424160" y="34381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wk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059936"/>
            <a:ext cx="11094415" cy="5486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059936"/>
            <a:ext cx="91440" cy="548640"/>
          </a:xfrm>
          <a:prstGeom prst="rect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128516"/>
            <a:ext cx="411480" cy="411480"/>
          </a:xfrm>
          <a:prstGeom prst="ellipse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1285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40599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build (iOS + Android)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0" y="405993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app, NFC integration, full feature set, store-ready.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424160" y="40599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16–20 wk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681728"/>
            <a:ext cx="11094415" cy="5486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681728"/>
            <a:ext cx="91440" cy="548640"/>
          </a:xfrm>
          <a:prstGeom prst="rect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4750308"/>
            <a:ext cx="411480" cy="411480"/>
          </a:xfrm>
          <a:prstGeom prst="ellipse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7503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71600" y="46817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marketplace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29200" y="46817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storefront, listings, checkout, SEO, deploy pipeline.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424160" y="46817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wk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303520"/>
            <a:ext cx="91440" cy="548640"/>
          </a:xfrm>
          <a:prstGeom prst="rect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" y="5372100"/>
            <a:ext cx="411480" cy="411480"/>
          </a:xfrm>
          <a:prstGeom prst="ellipse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3721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7160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security &amp; IP audit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029200" y="5303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coverage, NFC crypto audit, performance, accessibility.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424160" y="5303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5925312"/>
            <a:ext cx="11094415" cy="54864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5925312"/>
            <a:ext cx="91440" cy="548640"/>
          </a:xfrm>
          <a:prstGeom prst="rect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" y="5993892"/>
            <a:ext cx="411480" cy="41148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59938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371600" y="5925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stabilization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029200" y="59253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review, soft launch, monitoring, hotfix window.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10424160" y="59253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wk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Platform · Build Investment Proposal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9 months end-to-end.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mobile, and web tracks run partially in parallel.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2697480"/>
            <a:ext cx="8595360" cy="365760"/>
          </a:xfrm>
          <a:prstGeom prst="rect">
            <a:avLst/>
          </a:prstGeom>
          <a:solidFill>
            <a:srgbClr val="1B1840"/>
          </a:solidFill>
          <a:ln w="12700">
            <a:solidFill>
              <a:srgbClr val="1B18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2697480"/>
            <a:ext cx="95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81120" y="2697480"/>
            <a:ext cx="95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36160" y="2697480"/>
            <a:ext cx="95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91200" y="2697480"/>
            <a:ext cx="95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46240" y="2697480"/>
            <a:ext cx="95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01280" y="2697480"/>
            <a:ext cx="95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56320" y="2697480"/>
            <a:ext cx="95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11360" y="2697480"/>
            <a:ext cx="95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66400" y="2697480"/>
            <a:ext cx="95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81120" y="3063240"/>
            <a:ext cx="0" cy="3017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36160" y="3063240"/>
            <a:ext cx="0" cy="3017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91200" y="3063240"/>
            <a:ext cx="0" cy="3017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6240" y="3063240"/>
            <a:ext cx="0" cy="3017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01280" y="3063240"/>
            <a:ext cx="0" cy="3017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6320" y="3063240"/>
            <a:ext cx="0" cy="3017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11360" y="3063240"/>
            <a:ext cx="0" cy="3017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66400" y="3063240"/>
            <a:ext cx="0" cy="30175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54680"/>
            <a:ext cx="219456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62656" y="3225546"/>
            <a:ext cx="881888" cy="263217"/>
          </a:xfrm>
          <a:prstGeom prst="roundRect">
            <a:avLst>
              <a:gd name="adj" fmla="val 17370"/>
            </a:avLst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59629"/>
            <a:ext cx="219456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78936" y="3630495"/>
            <a:ext cx="1359408" cy="263217"/>
          </a:xfrm>
          <a:prstGeom prst="roundRect">
            <a:avLst>
              <a:gd name="adj" fmla="val 17370"/>
            </a:avLst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64577"/>
            <a:ext cx="219456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platform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95216" y="4035443"/>
            <a:ext cx="2314448" cy="263217"/>
          </a:xfrm>
          <a:prstGeom prst="roundRect">
            <a:avLst>
              <a:gd name="adj" fmla="val 17370"/>
            </a:avLst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69526"/>
            <a:ext cx="219456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build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50256" y="4440392"/>
            <a:ext cx="4702048" cy="263217"/>
          </a:xfrm>
          <a:prstGeom prst="roundRect">
            <a:avLst>
              <a:gd name="adj" fmla="val 17370"/>
            </a:avLst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774474"/>
            <a:ext cx="219456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marketplace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27776" y="4845340"/>
            <a:ext cx="3747008" cy="263217"/>
          </a:xfrm>
          <a:prstGeom prst="roundRect">
            <a:avLst>
              <a:gd name="adj" fmla="val 17370"/>
            </a:avLst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179423"/>
            <a:ext cx="219456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security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47936" y="5250289"/>
            <a:ext cx="1359408" cy="263217"/>
          </a:xfrm>
          <a:prstGeom prst="roundRect">
            <a:avLst>
              <a:gd name="adj" fmla="val 17370"/>
            </a:avLst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584371"/>
            <a:ext cx="2194560" cy="40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602976" y="5655237"/>
            <a:ext cx="881888" cy="263217"/>
          </a:xfrm>
          <a:prstGeom prst="roundRect">
            <a:avLst>
              <a:gd name="adj" fmla="val 17370"/>
            </a:avLst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5989320"/>
            <a:ext cx="164592" cy="164592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5943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03120" y="5989320"/>
            <a:ext cx="164592" cy="164592"/>
          </a:xfrm>
          <a:prstGeom prst="ellipse">
            <a:avLst/>
          </a:prstGeom>
          <a:solidFill>
            <a:srgbClr val="5BD6E0"/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31720" y="5943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566160" y="5989320"/>
            <a:ext cx="164592" cy="164592"/>
          </a:xfrm>
          <a:prstGeom prst="ellipse">
            <a:avLst/>
          </a:prstGeom>
          <a:solidFill>
            <a:srgbClr val="F58CBE"/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5943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Platform · Build Investment Proposal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$350,000 recommended budget.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$300k (lean) to $425k (US senior team). Figures assume external contractor build.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6888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2468880"/>
            <a:ext cx="3779215" cy="3657600"/>
          </a:xfrm>
          <a:prstGeom prst="rect">
            <a:avLst/>
          </a:prstGeom>
          <a:solidFill>
            <a:srgbClr val="1B1840"/>
          </a:solidFill>
          <a:ln w="12700">
            <a:solidFill>
              <a:srgbClr val="1B18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265176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38160" y="3017520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$350k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138160" y="393192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~9 months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38160" y="4526280"/>
            <a:ext cx="3230575" cy="0"/>
          </a:xfrm>
          <a:prstGeom prst="line">
            <a:avLst/>
          </a:prstGeom>
          <a:noFill/>
          <a:ln w="6350">
            <a:solidFill>
              <a:srgbClr val="AAB0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470916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(post-launch)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38160" y="5029200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$8–12k / month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138160" y="5486400"/>
            <a:ext cx="3230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hosting, App Store + Stripe fees, on-call coverage.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Platform · Build Investment Proposal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 at launch.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10048" cy="128016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6032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46888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+ Android apps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92608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the App Store and Google Play, with NFC scan and full collector experience.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2286000"/>
            <a:ext cx="5410048" cy="128016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07328" y="256032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732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47408" y="246888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 marketplace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47408" y="292608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 on Vercel, custom domain, SEO baseline, marketing pages.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410048" cy="128016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93192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platform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3891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data model, Cloud Functions for evolution and trade logic, Stripe payments live.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3749040"/>
            <a:ext cx="5410048" cy="128016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7328" y="402336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732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47408" y="393192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ops tools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47408" y="43891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dashboard for catalog, drops, moderation, refunds, and analytics.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5410048" cy="128016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48640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63040" y="539496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585216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library and documented brand system handed over for ongoing work.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33008" y="5212080"/>
            <a:ext cx="5410048" cy="1280160"/>
          </a:xfrm>
          <a:prstGeom prst="rect">
            <a:avLst/>
          </a:prstGeom>
          <a:solidFill>
            <a:srgbClr val="F4F2FB"/>
          </a:solidFill>
          <a:ln w="12700">
            <a:solidFill>
              <a:srgbClr val="F4F2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07328" y="548640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7328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147408" y="539496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handover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47408" y="585216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docs, runbooks, security posture, deployment guide, source code repos.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Platform · Build Investment Proposal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822960"/>
            <a:ext cx="1097280" cy="1097280"/>
          </a:xfrm>
          <a:prstGeom prst="ellipse">
            <a:avLst/>
          </a:prstGeom>
          <a:solidFill>
            <a:srgbClr val="5BD6E0">
              <a:alpha val="25000"/>
            </a:srgbClr>
          </a:solidFill>
          <a:ln w="12700">
            <a:solidFill>
              <a:srgbClr val="5BD6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5394960"/>
            <a:ext cx="502920" cy="502920"/>
          </a:xfrm>
          <a:prstGeom prst="ellipse">
            <a:avLst/>
          </a:prstGeom>
          <a:solidFill>
            <a:srgbClr val="F58CBE">
              <a:alpha val="30000"/>
            </a:srgbClr>
          </a:solidFill>
          <a:ln w="12700">
            <a:solidFill>
              <a:srgbClr val="F58C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$350k, 9-month build.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an external development partner under a milestone-based contract. Stage funding by phase to retain control at each gate.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68980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68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discovery &amp; design budget ($60k) to begin Phase 1–2.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936492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364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867912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RFP to three vetted development partners; select on fixed-bid Phase 3+.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604004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040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535424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contract structure: milestone-based, IP-assigned, with 10% retention.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271516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715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202936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monthly steering review for budget, scope, and risk.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939028"/>
            <a:ext cx="457200" cy="457200"/>
          </a:xfrm>
          <a:prstGeom prst="ellipse">
            <a:avLst/>
          </a:prstGeom>
          <a:solidFill>
            <a:srgbClr val="8C7EF7"/>
          </a:solidFill>
          <a:ln w="12700">
            <a:solidFill>
              <a:srgbClr val="8C7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939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870448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soft launch in Month 9, full public launch in Month 10.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Platform · Build Investment Proposal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Hitbox Platform — Build Investment Proposal</dc:title>
  <dc:subject>PptxGenJS Presentation</dc:subject>
  <dc:creator>Hitbox</dc:creator>
  <cp:lastModifiedBy>Hitbox</cp:lastModifiedBy>
  <cp:revision>1</cp:revision>
  <dcterms:created xsi:type="dcterms:W3CDTF">2026-05-02T07:41:11Z</dcterms:created>
  <dcterms:modified xsi:type="dcterms:W3CDTF">2026-05-02T07:41:11Z</dcterms:modified>
</cp:coreProperties>
</file>